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1645920"/>
            <a:ext cx="54864" cy="320040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64592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物业租赁综合管理系统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463040" y="26974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i="1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Property Rental Comprehensive Management System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463040" y="3291840"/>
            <a:ext cx="3657600" cy="36576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35204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 品 方 案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4754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企业内部自用 | 住房 / 厂房 / 商铺 | 收租管理 + 财务报表 + 合同管理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51206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技术栈：Electron + Vue3 + Element Plus / Node.js + Express + Sequelize / MySQL + Redis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1/46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  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TABLE OF CONTENTS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96596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1965960"/>
            <a:ext cx="54864" cy="201168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项目概述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背景、定位、价值与目标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3520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P1 - P8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34840" y="196596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34840" y="1965960"/>
            <a:ext cx="54864" cy="201168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61772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17720" y="2697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收租管理模块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1772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房源、租客、收租、催缴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7720" y="3520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P9 - P16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196596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1965960"/>
            <a:ext cx="54864" cy="20116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229600" y="2697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财务报表模块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229600" y="3154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账套、核算、税务、预算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0" y="3520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P17 - P26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2960" y="425196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251960"/>
            <a:ext cx="54864" cy="20116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434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6B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1005840" y="4983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合同管理模块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05840" y="5440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起草、审批、履行、续约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5806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P27 - P35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434840" y="425196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434840" y="4251960"/>
            <a:ext cx="54864" cy="2011680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32" name="Text 30"/>
          <p:cNvSpPr/>
          <p:nvPr/>
        </p:nvSpPr>
        <p:spPr>
          <a:xfrm>
            <a:off x="4617720" y="4434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617720" y="4983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UI/UX设计规范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4617720" y="5440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设计理念、色彩、字体、布局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17720" y="5806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P36 - P40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046720" y="425196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046720" y="4251960"/>
            <a:ext cx="54864" cy="201168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0" y="4434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8229600" y="49834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技术架构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8229600" y="54406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架构总览、前后端、数据库、集成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0" y="58064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P41 - P46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2/46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项目背景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物业企业数字化转型需求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行业痛点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传统物业租赁管理依赖Excel/纸质台账，数据分散、易出错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收租催缴效率低，欠费发现滞后，资金回笼周期长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财务核算手工操作多，税务合规风险高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合同管理缺乏标准化流程，到期续约易遗漏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78308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政策驱动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国家推进数字化转型，物业行业信息化要求提升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税务监管趋严，企业需要规范的财务管理体系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租赁市场规范化发展，合同管理合规性要求提高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78308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技术机遇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22860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Electron桌面端技术成熟，可构建高性能本地应用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Vue3 + Element Plus提供现代化UI开发体验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MySQL + Redis保障数据安全与访问性能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3/46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系统定位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企业内部自用综合管理平台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2894076" y="1874520"/>
            <a:ext cx="6400800" cy="1097280"/>
          </a:xfrm>
          <a:prstGeom prst="roundRect">
            <a:avLst>
              <a:gd name="adj" fmla="val 8333"/>
            </a:avLst>
          </a:prstGeom>
          <a:solidFill>
            <a:srgbClr val="0A3D62"/>
          </a:solidFill>
          <a:ln/>
        </p:spPr>
      </p:sp>
      <p:sp>
        <p:nvSpPr>
          <p:cNvPr id="7" name="Text 5"/>
          <p:cNvSpPr/>
          <p:nvPr/>
        </p:nvSpPr>
        <p:spPr>
          <a:xfrm>
            <a:off x="2894076" y="18745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企业内部自用 · 物业租赁综合管理平台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33756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520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非SaaS产品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企业私有化部署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数据完全自主可控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无需担心数据泄露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33375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333756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480560" y="3520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48056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多业态覆盖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80560" y="45720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住房、厂房、商铺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统一管理平台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适配不同租赁场景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46720" y="33375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046720" y="333756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0" y="35204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229600" y="40690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业财一体化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29600" y="457200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收租、财务、合同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三大模块深度集成</a:t>
            </a:r>
            <a:endParaRPr lang="en-US" sz="11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业务数据实时互通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4/46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适用范围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住房 / 厂房 / 商铺，50-500套规模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住房租赁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公寓/住宅管理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长短租混合模式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水电气抄表核算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租客信用评估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智能门禁集成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78308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厂房租赁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工业厂房管理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面积/分区计费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设备设施台账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安全生产管理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环评合规跟踪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78308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商铺租赁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228600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商业铺位管理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营业额抽成模式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物业费/推广费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品牌商户分级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装修审批管理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91672" cy="1645920"/>
          </a:xfrm>
          <a:prstGeom prst="roundRect">
            <a:avLst>
              <a:gd name="adj" fmla="val 5556"/>
            </a:avLst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3492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适用规模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5715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50-100套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468880" y="5715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小型物业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68880" y="6126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单栋/小区管理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5715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100-300套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126480" y="5715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中型物业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6126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多项目集中管理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321040" y="5715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300-500套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784080" y="5715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大型物业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784080" y="6126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集团化统一管控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5/46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核心价值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收租高效化 · 财务规范化 · 合同数字化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收租高效化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自动生成账单，减少80%手工操作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多渠道收款（银行转账/微信/支付宝/现金）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智能催缴策略，欠费率降低60%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实时收租看板，资金状况一目了然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78308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财务规范化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自动凭证生成，符合会计准则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多维度费用核算，成本精细管控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税务自动计算，合规风险降低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预算执行监控，异常实时预警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78308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合同数字化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2286000"/>
            <a:ext cx="310896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电子合同模板，起草效率提升5倍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在线审批流程，审批周期缩短70%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到期自动提醒，续约不遗漏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法务条款库，合规风险可控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6/46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系统特色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三位一体 · 数据互通 · 业财一体化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57400"/>
            <a:ext cx="640080" cy="64008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三位一体管理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收租管理、财务报表、合同管理三大核心模块深度融合，形成完整的物业租赁业务闭环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2057400"/>
            <a:ext cx="640080" cy="64008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352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数据实时互通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80560" y="2788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收租数据自动同步财务凭证，合同变更实时联动收租账单，消除信息孤岛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47472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2057400"/>
            <a:ext cx="640080" cy="640080"/>
          </a:xfrm>
          <a:prstGeom prst="ellipse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2057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52560" y="20574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业财一体化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0" y="278892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业务操作自动触发财务处理，收租即入账，费用即核算，实现业务财务无缝衔接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160520"/>
            <a:ext cx="2606040" cy="36576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4343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多业态适配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4800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住房/厂房/商铺统一管理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37560" y="4160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</p:spPr>
      </p:sp>
      <p:sp>
        <p:nvSpPr>
          <p:cNvPr id="26" name="Shape 24"/>
          <p:cNvSpPr/>
          <p:nvPr/>
        </p:nvSpPr>
        <p:spPr>
          <a:xfrm>
            <a:off x="3337560" y="4160520"/>
            <a:ext cx="2606040" cy="36576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4343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桌面端高性能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4800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Electron本地运行，响应迅速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26480" y="4160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</p:spPr>
      </p:sp>
      <p:sp>
        <p:nvSpPr>
          <p:cNvPr id="30" name="Shape 28"/>
          <p:cNvSpPr/>
          <p:nvPr/>
        </p:nvSpPr>
        <p:spPr>
          <a:xfrm>
            <a:off x="6126480" y="4160520"/>
            <a:ext cx="2606040" cy="36576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31" name="Text 29"/>
          <p:cNvSpPr/>
          <p:nvPr/>
        </p:nvSpPr>
        <p:spPr>
          <a:xfrm>
            <a:off x="6263640" y="4343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数据安全可控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4800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私有化部署，数据不出企业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15400" y="4160520"/>
            <a:ext cx="2606040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</p:spPr>
      </p:sp>
      <p:sp>
        <p:nvSpPr>
          <p:cNvPr id="34" name="Shape 32"/>
          <p:cNvSpPr/>
          <p:nvPr/>
        </p:nvSpPr>
        <p:spPr>
          <a:xfrm>
            <a:off x="8915400" y="4160520"/>
            <a:ext cx="2606040" cy="36576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35" name="Text 33"/>
          <p:cNvSpPr/>
          <p:nvPr/>
        </p:nvSpPr>
        <p:spPr>
          <a:xfrm>
            <a:off x="9052560" y="43434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灵活可扩展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052560" y="48006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模块化设计，按需定制功能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7/46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建设目标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 / 中期 / 长期路线图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3474720" cy="914400"/>
          </a:xfrm>
          <a:prstGeom prst="rect">
            <a:avLst>
              <a:gd name="adj" fmla="val 10000"/>
            </a:avLst>
          </a:prstGeom>
          <a:solidFill>
            <a:srgbClr val="0A3D62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240280"/>
            <a:ext cx="3474720" cy="45720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短期目标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第1-3个月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基础能力建设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29184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收租管理核心功能上线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基础财务核算功能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合同电子化管理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数据导入与迁移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0" y="178308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1783080"/>
            <a:ext cx="3474720" cy="914400"/>
          </a:xfrm>
          <a:prstGeom prst="rect">
            <a:avLst>
              <a:gd name="adj" fmla="val 10000"/>
            </a:avLst>
          </a:prstGeom>
          <a:solidFill>
            <a:srgbClr val="F6B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2240280"/>
            <a:ext cx="3474720" cy="45720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中期目标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29768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第4-6个月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8056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能力深化完善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480560" y="329184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智能催缴策略优化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财务报表体系完善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合同审批流程优化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多维度数据分析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46720" y="1783080"/>
            <a:ext cx="3474720" cy="43891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0" y="1783080"/>
            <a:ext cx="3474720" cy="914400"/>
          </a:xfrm>
          <a:prstGeom prst="rect">
            <a:avLst>
              <a:gd name="adj" fmla="val 10000"/>
            </a:avLst>
          </a:prstGeom>
          <a:solidFill>
            <a:srgbClr val="00B894"/>
          </a:solidFill>
          <a:ln/>
        </p:spPr>
      </p:sp>
      <p:sp>
        <p:nvSpPr>
          <p:cNvPr id="22" name="Shape 20"/>
          <p:cNvSpPr/>
          <p:nvPr/>
        </p:nvSpPr>
        <p:spPr>
          <a:xfrm>
            <a:off x="8046720" y="2240280"/>
            <a:ext cx="3474720" cy="45720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1874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长期目标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04672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第7-12个月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0" y="2834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智能化升级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0" y="3291840"/>
            <a:ext cx="3108960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收租预测与风险预警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业财一体化深度整合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移动端协同办公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数据驱动决策支持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6908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781812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8/46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4722876" y="3410712"/>
            <a:ext cx="2743200" cy="36576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7033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收租管理模块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RENT COLLECTION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9/46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模块概述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收租管理功能全景图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房源管理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6060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多业态房源信息维护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批量录入/导入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房源状态跟踪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1965960"/>
            <a:ext cx="548640" cy="54864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租客管理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26060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租客档案管理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入住/退租流程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信用评分体系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1965960"/>
            <a:ext cx="548640" cy="54864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61120" y="2011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收租核心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0" y="26060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自动账单生成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多渠道收款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收租日历视图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343400"/>
            <a:ext cx="548640" cy="54864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智能催缴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1520" y="4983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多级催缴策略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多通道通知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欠费分析报表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297680" y="41605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80560" y="4343400"/>
            <a:ext cx="548640" cy="54864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28" name="Text 26"/>
          <p:cNvSpPr/>
          <p:nvPr/>
        </p:nvSpPr>
        <p:spPr>
          <a:xfrm>
            <a:off x="448056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21208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数据看板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480560" y="4983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收租趋势分析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逾期率监控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收款渠道统计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0" y="416052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29600" y="4343400"/>
            <a:ext cx="548640" cy="548640"/>
          </a:xfrm>
          <a:prstGeom prst="ellipse">
            <a:avLst/>
          </a:prstGeom>
          <a:solidFill>
            <a:srgbClr val="0A3D62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0" y="4343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961120" y="4389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报表导出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0" y="498348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收租明细报表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欠费汇总报表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自定义报表模板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10/46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房源管理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多业态支持 · 批量录入 · 状态跟踪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多业态房源支持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住房：公寓/住宅/宿舍，支持户型、面积、朝向等属性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厂房：标准厂房/定制厂房，支持分区、承重、层高等属性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商铺：临街商铺/内铺/档口，支持位置、客流、经营范围等属性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自定义业态扩展，满足特殊租赁场景需求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批量录入与导入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Excel模板批量导入房源信息，支持字段映射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OCR识别房产证/租赁合同，自动填充房源数据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房源信息批量编辑，支持字段级批量修改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数据校验与去重，确保数据质量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34340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480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房源状态管理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空置 → 已预订 → 已出租 → 维修中 → 退租中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状态变更自动记录，支持历史追溯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房源地图视图，直观展示分布与状态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房源标签体系，支持自定义分类与筛选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4343400"/>
            <a:ext cx="5669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9" name="Image 0" descr="/workspace/assets/charts/s1/property_type_pie_6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7032" y="4434840"/>
            <a:ext cx="2139696" cy="178308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58368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房源业态分布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11/46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租客管理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档案管理 · 入住退租 · 信用评分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租客档案管理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基本信息：姓名/企业名称、证件号码、联系方式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租赁信息：当前房源、租期、租金、押金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财务信息：缴费记录、欠费金额、信用评分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附件管理：身份证、营业执照、租赁合同扫描件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入住/退租流程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入住办理：合同关联、押金收取、钥匙交付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退租流程：费用结算、押金退还、房源释放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转租管理：租客变更、合同转让、费用清算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续租办理：合同续签、租金调整、条款变更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160520"/>
            <a:ext cx="365760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信用评分体系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按时缴费记录（权重40%）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合同履约情况（权重25%）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物业配合度（权重20%）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历史欠费记录（权重15%）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信用等级：A/B/C/D四级评定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信用分影响押金比例与审批速度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416052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9" name="Image 0" descr="/workspace/assets/charts/s1/tenant_credit_dist_6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4251960"/>
            <a:ext cx="2468880" cy="205740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572000" y="6355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租客信用分布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8869680" y="4160520"/>
            <a:ext cx="32918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22" name="Image 1" descr="/workspace/assets/ui/s1/ui_tenant_detail_1200x7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4309110"/>
            <a:ext cx="3108960" cy="19431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961120" y="63550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租客详情界面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12/46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收租核心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自动账单 · 多渠道收款 · 收租日历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自动账单生成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按周期自动生成租金账单（月/季/年）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支持固定租金、阶梯租金、营业额抽成等多种计费模式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水电燃气等费用自动抄表核算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账单自动推送通知（站内信/短信/微信）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多渠道收款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银行转账（自动对账）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微信/支付宝扫码收款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现金收款（登记确认）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POS刷卡/支票等线下收款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收款自动核销，实时更新账单状态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731520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5" name="Image 0" descr="/workspace/assets/ui/s1/ui_rent_calendar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8256" y="3977640"/>
            <a:ext cx="4315968" cy="26974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67208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收租日历 - 直观展示每日应收/实收/欠费情况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38160" y="388620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8" name="Image 1" descr="/workspace/assets/charts/s1/payment_channel_600x5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1352" y="3977640"/>
            <a:ext cx="3236976" cy="26974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0" y="6720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收款渠道分布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13/46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智能催缴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多级策略 · 多通道通知 · 欠费分析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多级催缴策略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一级提醒：到期前3天，友好提醒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二级催缴：逾期1-7天，短信+站内信催缴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三级催缴：逾期8-30天，电话催缴+书面通知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四级催缴：逾期30天以上，法务介入+停水停电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支持自定义催缴策略与触发条件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多通道通知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站内消息推送（系统内实时通知）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短信通知（批量发送，支持模板）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微信通知（公众号/企业微信推送）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邮件通知（正式催缴函）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通知记录完整留存，可追溯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731520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5" name="Image 0" descr="/workspace/assets/ui/s1/ui_collection_center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7712" y="4251960"/>
            <a:ext cx="3877056" cy="242316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67208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催缴中心 - 集中管理所有催缴任务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38160" y="416052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8" name="Image 1" descr="/workspace/assets/charts/s1/arrear_aging_800x5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263390"/>
            <a:ext cx="3840480" cy="24003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0" y="6720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欠费账龄分析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14/46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收租数据看板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收租趋势 · 逾期率 · 收款分析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98.5%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当月收缴率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78308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3.2%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逾期率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783080"/>
            <a:ext cx="1828800" cy="36576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1,286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当月应收(万)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178308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1,245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8368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当月实收(万)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95360" y="178308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9536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欠费户数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06324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27" name="Image 0" descr="/workspace/assets/charts/s1/rent_trend_8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3154680"/>
            <a:ext cx="3291840" cy="20574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008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收租趋势分析 - 月度应收/实收/欠费走势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92240" y="306324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30" name="Image 1" descr="/workspace/assets/charts/s1/overdue_rate_800x5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154680"/>
            <a:ext cx="3291840" cy="20574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58368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逾期率趋势 - 按业态/按月度逾期率变化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15/46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收租UI总览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Dashboard · 租客详情 · 房源列表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7" name="Image 0" descr="/workspace/assets/ui/s1/ui_dashboard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8448" y="1874520"/>
            <a:ext cx="4169664" cy="2606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收租管理仪表盘 - 核心数据一览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92240" y="1783080"/>
            <a:ext cx="5669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0" name="Image 1" descr="/workspace/assets/ui/s1/ui_tenant_detail_1200x7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1874520"/>
            <a:ext cx="4169664" cy="2606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4526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租客详情 - 档案/合同/缴费全景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507492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3" name="Image 2" descr="/workspace/assets/ui/s1/ui_property_list_1200x7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3120" y="5166360"/>
            <a:ext cx="2560320" cy="1600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" y="6812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房源列表 - 多业态统一管理视图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6492240" y="5074920"/>
            <a:ext cx="5669280" cy="2103120"/>
          </a:xfrm>
          <a:prstGeom prst="roundRect">
            <a:avLst>
              <a:gd name="adj" fmla="val 3478"/>
            </a:avLst>
          </a:prstGeom>
          <a:solidFill>
            <a:srgbClr val="F8F9FA"/>
          </a:solidFill>
          <a:ln/>
        </p:spPr>
      </p:sp>
      <p:sp>
        <p:nvSpPr>
          <p:cNvPr id="16" name="Text 11"/>
          <p:cNvSpPr/>
          <p:nvPr/>
        </p:nvSpPr>
        <p:spPr>
          <a:xfrm>
            <a:off x="6675120" y="5212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收租模块UI特点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675120" y="562356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仪表盘设计：核心KPI一目了然，数据可视化呈现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日历视图：直观展示收租时间线与到期提醒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催缴中心：集中管理催缴任务，提升工作效率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响应式布局：适配不同屏幕尺寸，操作体验一致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16/46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4722876" y="3410712"/>
            <a:ext cx="2743200" cy="36576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7033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财务报表模块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FINANCIAL REPORTING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17/46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模块概述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财务报表功能全景图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账套管理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423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多账套支持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科目体系配置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期初余额设置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97680" y="17830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920240"/>
            <a:ext cx="457200" cy="45720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凭证管理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34840" y="2423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自动/手工凭证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凭证审核流程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凭证查询打印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1920240"/>
            <a:ext cx="457200" cy="45720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18" name="Text 16"/>
          <p:cNvSpPr/>
          <p:nvPr/>
        </p:nvSpPr>
        <p:spPr>
          <a:xfrm>
            <a:off x="81838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77824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收入核算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183880" y="242316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租金收入确认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多业态收入分类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收入对账核销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3611880"/>
            <a:ext cx="457200" cy="45720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费用核算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运营费用管理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费用分摊规则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成本中心核算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297680" y="34747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434840" y="3611880"/>
            <a:ext cx="457200" cy="45720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税务管理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43484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税种自动计算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纳税申报辅助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税负分析报表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046720" y="347472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183880" y="3611880"/>
            <a:ext cx="457200" cy="45720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33" name="Text 31"/>
          <p:cNvSpPr/>
          <p:nvPr/>
        </p:nvSpPr>
        <p:spPr>
          <a:xfrm>
            <a:off x="818388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778240" y="36118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预算管理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183880" y="41148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预算编制审批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执行监控预警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预算差异分析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16636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5800" y="5303520"/>
            <a:ext cx="457200" cy="45720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280160" y="5303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报表体系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85800" y="5806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资产负债表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利润表/现金流量表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自定义报表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97680" y="516636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434840" y="5303520"/>
            <a:ext cx="457200" cy="45720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43" name="Text 41"/>
          <p:cNvSpPr/>
          <p:nvPr/>
        </p:nvSpPr>
        <p:spPr>
          <a:xfrm>
            <a:off x="443484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029200" y="5303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成本分析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434840" y="5806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成本结构分析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利润率趋势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投资回报测算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46720" y="516636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183880" y="5303520"/>
            <a:ext cx="457200" cy="45720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48" name="Text 46"/>
          <p:cNvSpPr/>
          <p:nvPr/>
        </p:nvSpPr>
        <p:spPr>
          <a:xfrm>
            <a:off x="818388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778240" y="5303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数据看板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183880" y="58064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收支趋势分析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现金流监控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关键财务指标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18/46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账套与凭证管理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多账套支持 · 自动凭证 · 审核流程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账套管理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支持多账套管理（按项目/业态/公司维度）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标准会计科目体系，支持自定义扩展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期初余额设置，支持历史数据导入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会计期间管理，支持跨年结转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账套权限控制，操作日志完整记录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凭证管理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收租业务自动生成收入凭证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费用支出自动生成费用凭证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支持手工录入调整凭证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凭证审核流程（制单→复核→审核）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凭证查询、打印、导出功能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5" name="Image 0" descr="/workspace/assets/ui/s2/ui_voucher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4251960"/>
            <a:ext cx="3584448" cy="2240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凭证管理界面 - 自动生成/手工录入/审核流程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92240" y="416052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F8F9FA"/>
          </a:solidFill>
          <a:ln/>
        </p:spPr>
      </p:sp>
      <p:sp>
        <p:nvSpPr>
          <p:cNvPr id="18" name="Text 15"/>
          <p:cNvSpPr/>
          <p:nvPr/>
        </p:nvSpPr>
        <p:spPr>
          <a:xfrm>
            <a:off x="6675120" y="4297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凭证业务流程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766560" y="4754880"/>
            <a:ext cx="274320" cy="27432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20" name="Text 17"/>
          <p:cNvSpPr/>
          <p:nvPr/>
        </p:nvSpPr>
        <p:spPr>
          <a:xfrm>
            <a:off x="6766560" y="4754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178040" y="4754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业务发生（收租/付款/费用）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66560" y="5074920"/>
            <a:ext cx="274320" cy="27432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23" name="Text 20"/>
          <p:cNvSpPr/>
          <p:nvPr/>
        </p:nvSpPr>
        <p:spPr>
          <a:xfrm>
            <a:off x="676656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78040" y="5074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系统自动生成凭证草稿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766560" y="5394960"/>
            <a:ext cx="274320" cy="27432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26" name="Text 23"/>
          <p:cNvSpPr/>
          <p:nvPr/>
        </p:nvSpPr>
        <p:spPr>
          <a:xfrm>
            <a:off x="6766560" y="5394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178040" y="5394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会计人员审核确认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6766560" y="5715000"/>
            <a:ext cx="274320" cy="27432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29" name="Text 26"/>
          <p:cNvSpPr/>
          <p:nvPr/>
        </p:nvSpPr>
        <p:spPr>
          <a:xfrm>
            <a:off x="6766560" y="5715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178040" y="57150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主管复核审批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766560" y="6035040"/>
            <a:ext cx="274320" cy="27432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32" name="Text 29"/>
          <p:cNvSpPr/>
          <p:nvPr/>
        </p:nvSpPr>
        <p:spPr>
          <a:xfrm>
            <a:off x="6766560" y="60350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7178040" y="60350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凭证过账入账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766560" y="6355080"/>
            <a:ext cx="274320" cy="274320"/>
          </a:xfrm>
          <a:prstGeom prst="ellipse">
            <a:avLst/>
          </a:prstGeom>
          <a:solidFill>
            <a:srgbClr val="F6B93B"/>
          </a:solidFill>
          <a:ln/>
        </p:spPr>
      </p:sp>
      <p:sp>
        <p:nvSpPr>
          <p:cNvPr id="35" name="Text 32"/>
          <p:cNvSpPr/>
          <p:nvPr/>
        </p:nvSpPr>
        <p:spPr>
          <a:xfrm>
            <a:off x="6766560" y="6355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178040" y="63550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期末结转与报表生成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19/46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收入与费用核算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多维度核算 · 自动对账 · 成本分摊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收入核算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租金收入按权责发生制确认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多业态收入分类统计（住房/厂房/商铺）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押金、保证金单独核算管理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预收租金递延收入确认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收入与收租数据自动对账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费用核算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物业运营费用分类管理（维修/保洁/安保/绿化）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公共费用分摊（按面积/按户/自定义规则）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固定资产折旧自动计算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长期待摊费用按期摊销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费用审批流程与预算控制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5" name="Image 0" descr="/workspace/assets/charts/s2/ar_aging_8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4251960"/>
            <a:ext cx="3584448" cy="2240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应收账款账龄分析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492240" y="416052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8" name="Image 1" descr="/workspace/assets/charts/s2/income_expense_trend_900x5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628" y="4251960"/>
            <a:ext cx="4032504" cy="22402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83680" y="6537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收支趋势分析 - 收入/费用/净利润月度走势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20/46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税务管理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税种计算 · 纳税申报 · 税负分析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税种管理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增值税：一般纳税人/小规模纳税人自动计算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房产税：从价计征/从租计征自动核算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城镇土地使用税：按面积自动计算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印花税：合同签订自动计提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企业所得税：季度预缴/年度汇算清缴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纳税申报辅助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纳税申报表自动生成（增值税/房产税等）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税金计提与缴纳流程管理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发票管理（进项/销项发票登记）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税务风险预警（税负异常/逾期未缴）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税务档案管理（申报表/完税凭证）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5" name="Image 0" descr="/workspace/assets/charts/s2/tax_composition_6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4251960"/>
            <a:ext cx="2688336" cy="2240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6537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税种构成分析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80560" y="416052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8" name="Image 1" descr="/workspace/assets/charts/s2/tax_burden_trend_800x5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4251960"/>
            <a:ext cx="3584448" cy="22402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0" y="6537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综合税负率趋势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869680" y="4160520"/>
            <a:ext cx="32918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21" name="Image 2" descr="/workspace/assets/ui/s2/ui_tax_dashboard_1200x7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4400550"/>
            <a:ext cx="3108960" cy="19431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61120" y="6537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税务管理仪表盘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21/46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预算编制 · 执行监控 · 差异分析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预算编制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年度/季度/月度预算编制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按科目/项目/部门多维度预算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预算审批流程（编制→审核→批准）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预算模板管理，支持历史数据参考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滚动预算调整，灵活应对业务变化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执行监控与预警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预算执行进度实时监控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超预算自动预警（阈值可配置）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预算执行率统计与分析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预算调整申请与审批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预算执行报告自动生成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7315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5" name="Image 0" descr="/workspace/assets/charts/s2/budget_vs_actual_9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9988" y="4251960"/>
            <a:ext cx="4032504" cy="2240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65379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预算vs实际对比分析 - 各科目预算执行情况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38160" y="41605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8F9FA"/>
          </a:solidFill>
          <a:ln/>
        </p:spPr>
      </p:sp>
      <p:sp>
        <p:nvSpPr>
          <p:cNvPr id="18" name="Text 15"/>
          <p:cNvSpPr/>
          <p:nvPr/>
        </p:nvSpPr>
        <p:spPr>
          <a:xfrm>
            <a:off x="832104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预算管理要点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21040" y="470916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收入预算：基于历史数据与市场预测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成本预算：按固定/变动成本分类编制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费用预算：各部门费用额度控制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资本预算：大额投资支出计划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●"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现金流预算：确保资金链安全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22/46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财务报表体系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三大主表 · 管理报表 · 自定义报表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资产负债表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资产：货币资金、应收账款、固定资产、无形资产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负债：应付账款、预收租金、应交税费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所有者权益：实收资本、未分配利润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支持月度/季度/年度报表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7830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178308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利润表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2860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营业收入：租金收入、物业费收入、其他收入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营业成本：折旧摊销、维修费用、人工成本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期间费用：管理费用、财务费用、销售费用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净利润及利润分配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0" y="1783080"/>
            <a:ext cx="347472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19202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现金流量表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2286000"/>
            <a:ext cx="3108960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经营活动现金流：收租收入、运营支出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投资活动现金流：资产购置、处置收入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筹资活动现金流：借款、还款、利息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现金及现金等价物净增加额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800600"/>
            <a:ext cx="11091672" cy="2103120"/>
          </a:xfrm>
          <a:prstGeom prst="roundRect">
            <a:avLst>
              <a:gd name="adj" fmla="val 3478"/>
            </a:avLst>
          </a:prstGeom>
          <a:solidFill>
            <a:srgbClr val="F8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937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管理报表与自定义报表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5349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管理报表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5715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收租汇总表 / 欠费明细表 / 成本分析表 / 预算执行表 / 税负分析表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5349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自定义报表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5715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拖拽式报表设计器 / 多数据源关联 / 图表混排 / 定时生成 / 邮件推送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53492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报表导出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321040" y="571500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Excel / PDF / 打印 / 定时报表任务 / 历史版本管理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23/46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成本与利润分析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成本结构 · 利润趋势 · 盈利能力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7" name="Image 0" descr="/workspace/assets/charts/s2/cost_structure_7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5084" y="1874520"/>
            <a:ext cx="3136392" cy="2240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成本结构分析 - 各类成本占比及趋势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92240" y="178308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0" name="Image 1" descr="/workspace/assets/charts/s2/profit_margin_800x5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6" y="1874520"/>
            <a:ext cx="3584448" cy="2240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利润率趋势 - 毛利率/净利率/ROI月度走势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480060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4800600"/>
            <a:ext cx="365760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成本管控要点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31520" y="53035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固定成本优化：折旧、保险、基础物业费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变动成本控制：维修、能耗、临时人工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成本分摊精细化：公共费用合理分摊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成本预警机制：异常成本自动预警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480560" y="480060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80560" y="4800600"/>
            <a:ext cx="38404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8" name="Text 14"/>
          <p:cNvSpPr/>
          <p:nvPr/>
        </p:nvSpPr>
        <p:spPr>
          <a:xfrm>
            <a:off x="4663440" y="4937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利润分析维度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63440" y="53035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按业态分析：住房/厂房/商铺盈利对比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按项目分析：各项目利润贡献排名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按周期分析：月度/季度/年度利润趋势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按租客分析：TOP租客贡献度排名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595360" y="48006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21" name="Image 2" descr="/workspace/assets/ui/s2/ui_cost_analysis_1200x7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4892040"/>
            <a:ext cx="2560320" cy="1600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86800" y="6537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成本分析界面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24/46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财务数据看板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收支趋势 · 现金流 · 关键指标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3,856万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年度总收入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78308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1,243万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年度总支出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783080"/>
            <a:ext cx="1828800" cy="36576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2,613万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年度净利润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178308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67.8%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8368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利润率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95360" y="1783080"/>
            <a:ext cx="1828800" cy="36576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8.2%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9536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综合税负率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06324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27" name="Image 0" descr="/workspace/assets/charts/s2/income_expense_trend_9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3154680"/>
            <a:ext cx="3703320" cy="20574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008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收支趋势分析 - 月度收入/费用/净利润走势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492240" y="3063240"/>
            <a:ext cx="56692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30" name="Image 1" descr="/workspace/assets/charts/s2/cash_flow_800x5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3154680"/>
            <a:ext cx="3291840" cy="205740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583680" y="5257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现金流量分析 - 经营/投资/筹资活动现金流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25/46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财务UI总览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 · 报表中心 · 税务仪表盘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7490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7" name="Image 0" descr="/workspace/assets/ui/s2/ui_workbench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71675"/>
            <a:ext cx="3566160" cy="2228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财务工作台 - 待办/快捷入口/关键指标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7490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0" name="Image 1" descr="/workspace/assets/ui/s2/ui_report_center_1200x7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71675"/>
            <a:ext cx="3566160" cy="22288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报表中心 - 报表目录/在线预览/导出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412480" y="1783080"/>
            <a:ext cx="37490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3" name="Image 2" descr="/workspace/assets/ui/s2/ui_tax_dashboard_1200x7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971675"/>
            <a:ext cx="3566160" cy="22288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税务仪表盘 - 税种/税负/申报状态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498348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F8F9FA"/>
          </a:solidFill>
          <a:ln/>
        </p:spPr>
      </p:sp>
      <p:sp>
        <p:nvSpPr>
          <p:cNvPr id="16" name="Text 11"/>
          <p:cNvSpPr/>
          <p:nvPr/>
        </p:nvSpPr>
        <p:spPr>
          <a:xfrm>
            <a:off x="82296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财务模块UI特点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2960" y="5532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专业财务布局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2960" y="5897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参考专业财务软件布局，科目树/凭证列表/分录编辑三栏式设计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0" y="5532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报表可视化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0" y="5897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图表与数据表格结合，支持钻取分析，数据层层深入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321040" y="5532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操作效率优先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321040" y="5897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快捷键支持、批量操作、智能填充，提升财务人员工作效率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26/46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4722876" y="3410712"/>
            <a:ext cx="2743200" cy="36576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7033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合同管理模块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CONTRACT MANAGEMENT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27/46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模块概述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合同全生命周期管理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1691640" cy="4572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起草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模板选择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条款编辑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附件上传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2423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423160" y="178308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23160" y="1783080"/>
            <a:ext cx="169164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23774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多级审批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电子签章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版本管理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423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97680" y="178308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1783080"/>
            <a:ext cx="1691640" cy="457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429768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签订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89120" y="23774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合同签署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归档存储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生效通知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89320" y="2423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178308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1783080"/>
            <a:ext cx="1691640" cy="45720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履行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263640" y="23774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条款跟踪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变更管理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履行记录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2423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46720" y="178308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46720" y="1783080"/>
            <a:ext cx="169164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续约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138160" y="23774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到期提醒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续约评估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合同续签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738360" y="242316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921240" y="1783080"/>
            <a:ext cx="1691640" cy="201168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921240" y="1783080"/>
            <a:ext cx="1691640" cy="45720"/>
          </a:xfrm>
          <a:prstGeom prst="rect">
            <a:avLst/>
          </a:prstGeom>
          <a:solidFill>
            <a:srgbClr val="7F8C8D"/>
          </a:solidFill>
          <a:ln/>
        </p:spPr>
      </p:sp>
      <p:sp>
        <p:nvSpPr>
          <p:cNvPr id="33" name="Text 31"/>
          <p:cNvSpPr/>
          <p:nvPr/>
        </p:nvSpPr>
        <p:spPr>
          <a:xfrm>
            <a:off x="9921240" y="192024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归档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12680" y="237744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合同归档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到期处理</a:t>
            </a:r>
            <a:endParaRPr lang="en-US" sz="10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电子存档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0690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48640" y="4069080"/>
            <a:ext cx="45720" cy="137160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模板管理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31520" y="4526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预置住房/厂房/商铺合同模板，支持自定义模板，条款库智能推荐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309360" y="406908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4069080"/>
            <a:ext cx="45720" cy="137160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41" name="Text 39"/>
          <p:cNvSpPr/>
          <p:nvPr/>
        </p:nvSpPr>
        <p:spPr>
          <a:xfrm>
            <a:off x="6492240" y="41605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审批流程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92240" y="452628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可视化审批流程设计，支持多级审批、条件分支、会签/或签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48640" y="56235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" y="5623560"/>
            <a:ext cx="45720" cy="137160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5715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风险管控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31520" y="60807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法务条款审查，关键条款高亮提示，合规性自动检查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309360" y="5623560"/>
            <a:ext cx="54864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309360" y="5623560"/>
            <a:ext cx="45720" cy="137160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49" name="Text 47"/>
          <p:cNvSpPr/>
          <p:nvPr/>
        </p:nvSpPr>
        <p:spPr>
          <a:xfrm>
            <a:off x="6492240" y="571500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数据分析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492240" y="60807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合同状态分布、审批效率、续约率等多维度分析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28/46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合同全生命周期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从起草到归档的完整管理流程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2148840" cy="54864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需求发起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租赁需求登记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房源匹配推荐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租客资质审核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租金方案拟定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697480" y="2971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880360" y="178308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80360" y="1783080"/>
            <a:ext cx="2148840" cy="54864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3" name="Text 11"/>
          <p:cNvSpPr/>
          <p:nvPr/>
        </p:nvSpPr>
        <p:spPr>
          <a:xfrm>
            <a:off x="2880360" y="1783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合同起草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242316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模板智能匹配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条款在线编辑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租金计算器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附件上传管理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0" y="2971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12080" y="178308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12080" y="1783080"/>
            <a:ext cx="2148840" cy="5486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783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审批签署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242316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多级审批流程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电子签章集成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合同版本对比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签署状态跟踪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60920" y="2971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543800" y="178308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43800" y="1783080"/>
            <a:ext cx="2148840" cy="548640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23" name="Text 21"/>
          <p:cNvSpPr/>
          <p:nvPr/>
        </p:nvSpPr>
        <p:spPr>
          <a:xfrm>
            <a:off x="7543800" y="1783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合同履行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80960" y="242316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条款执行跟踪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租金自动关联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变更管理流程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履行日志记录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692640" y="297180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&gt;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875520" y="1783080"/>
            <a:ext cx="2148840" cy="320040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875520" y="1783080"/>
            <a:ext cx="214884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8" name="Text 26"/>
          <p:cNvSpPr/>
          <p:nvPr/>
        </p:nvSpPr>
        <p:spPr>
          <a:xfrm>
            <a:off x="9875520" y="178308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续约/终止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12680" y="2423160"/>
            <a:ext cx="187452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到期自动提醒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续约条件评估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退租结算处理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合同终止归档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48640" y="5257800"/>
            <a:ext cx="11091672" cy="1645920"/>
          </a:xfrm>
          <a:prstGeom prst="roundRect">
            <a:avLst>
              <a:gd name="adj" fmla="val 4444"/>
            </a:avLst>
          </a:prstGeom>
          <a:solidFill>
            <a:srgbClr val="F8F9F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3949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全生命周期管理价值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5806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合同处理效率提升300%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6217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效率提升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0" y="5806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合同纠纷率降低80%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0" y="6217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风险降低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5806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法务审查覆盖率100%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492240" y="6217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合规保障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326880" y="58064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合同数据完整留存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326880" y="6217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数据完整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29/46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起草与审批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模板管理 · 在线编辑 · 多级审批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7" name="Image 0" descr="/workspace/assets/ui/s3/ui_contract_draft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1056" y="1874520"/>
            <a:ext cx="3584448" cy="2240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合同起草界面 - 模板选择/条款编辑/预览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92240" y="178308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0" name="Image 1" descr="/workspace/assets/ui/s3/ui_contract_approval_1200x7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4656" y="1874520"/>
            <a:ext cx="3584448" cy="22402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4160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合同审批界面 - 审批流程/意见批注/签章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" y="4800600"/>
            <a:ext cx="3657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48640" y="4800600"/>
            <a:ext cx="365760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4" name="Text 10"/>
          <p:cNvSpPr/>
          <p:nvPr/>
        </p:nvSpPr>
        <p:spPr>
          <a:xfrm>
            <a:off x="731520" y="4937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起草功能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31520" y="530352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智能模板匹配（按业态/租客类型）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条款库管理（标准条款/可选条款）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租金自动计算（含阶梯/抽成模式）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合同条款在线编辑与实时预览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历史合同参考与条款复用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480560" y="4800600"/>
            <a:ext cx="3840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480560" y="4800600"/>
            <a:ext cx="38404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8" name="Text 14"/>
          <p:cNvSpPr/>
          <p:nvPr/>
        </p:nvSpPr>
        <p:spPr>
          <a:xfrm>
            <a:off x="4663440" y="4937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审批功能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4663440" y="530352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可视化审批流程设计器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多级审批（部门→法务→总经理）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审批意见批注与退回修改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合同版本对比与变更记录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审批超时自动提醒与升级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595360" y="4800600"/>
            <a:ext cx="35661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21" name="Image 2" descr="/workspace/assets/charts/s3/approval_efficiency_800x50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4892040"/>
            <a:ext cx="2560320" cy="1600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686800" y="6537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审批效率分析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30/46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履行与变更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条款跟踪 · 变更管理 · 履行记录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合同履行跟踪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关键条款执行状态实时跟踪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租金缴纳自动关联合同条款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物业维修义务履行记录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违约行为自动检测与预警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履行进度可视化展示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合同变更管理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租金调整申请与审批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租期变更（提前退租/延期）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合同条款补充协议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变更前后版本对比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变更影响分析（财务/收租联动）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5" name="Image 0" descr="/workspace/assets/charts/s3/contract_type_dist_6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4251960"/>
            <a:ext cx="2688336" cy="22402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6537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合同类型分布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480560" y="416052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8" name="Image 1" descr="/workspace/assets/charts/s3/approval_bottleneck_700x5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9764" y="4251960"/>
            <a:ext cx="3136392" cy="22402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72000" y="6537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审批瓶颈分析 - 各环节耗时统计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8869680" y="4160520"/>
            <a:ext cx="32918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21" name="Image 2" descr="/workspace/assets/ui/s3/ui_contract_kanban_1200x7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4400550"/>
            <a:ext cx="3108960" cy="19431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961120" y="65379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合同看板 - 状态可视化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31/46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续约与到期管理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到期提醒 · 续约评估 · 合同续签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到期提醒机制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到期前90/60/30/15/7天多级提醒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提醒方式：站内信/短信/邮件/微信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提醒对象：经办人/部门主管/法务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到期日历视图，直观展示到期时间线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续约评估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租客信用评分与履约记录评估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市场租金对比分析，支持续约定价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续约条件智能推荐（租金/租期/条款）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续约/不续约决策记录与审批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73152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5" name="Image 0" descr="/workspace/assets/charts/s3/contract_expiry_calendar_9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3977640"/>
            <a:ext cx="4526280" cy="2514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65379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合同到期日历 - 直观展示各月到期合同数量与详情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138160" y="388620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8" name="Image 1" descr="/workspace/assets/charts/s3/renewal_rate_800x5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034790"/>
            <a:ext cx="3840480" cy="24003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229600" y="6537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续约率趋势分析 - 按业态/按月度续约率变化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32/46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法务合规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条款审查 · 合规检查 · 风险预警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法务条款管理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标准条款库：租赁合同必备条款模板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可选条款库：特殊场景附加条款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风险条款库：高风险条款识别与提示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法规更新同步：及时更新合规条款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条款版本管理：历史条款追溯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合规检查机制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合同签订前合规性自动检查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关键条款完整性校验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法律法规符合性审查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合同格式规范性检查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合规检查报告自动生成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6576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160520"/>
            <a:ext cx="365760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97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风险预警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合同到期风险预警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租金异常波动预警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违约行为风险预警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法务纠纷风险预警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合规风险定期评估报告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416052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80560" y="4160520"/>
            <a:ext cx="38404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4297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电子签章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4663440"/>
            <a:ext cx="347472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电子签章集成（对接第三方CA）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签章权限管理与审批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签章时间戳与防篡改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签章验证与法律效力保障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批量签章支持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595360" y="416052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95360" y="4160520"/>
            <a:ext cx="356616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24" name="Text 22"/>
          <p:cNvSpPr/>
          <p:nvPr/>
        </p:nvSpPr>
        <p:spPr>
          <a:xfrm>
            <a:off x="8778240" y="4297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档案管理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778240" y="466344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合同电子档案统一管理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合同全文检索与标签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档案借阅权限控制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档案到期自动清理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备份与灾备方案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33/46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合同数据看板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状态分布 · 审批效率 · 续约分析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1828800" cy="36576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486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合同总数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178308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89.3%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执行中占比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783080"/>
            <a:ext cx="1828800" cy="36576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2.1天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57200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平均审批时长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8368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83680" y="1783080"/>
            <a:ext cx="1828800" cy="36576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78.5%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58368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续约率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95360" y="1783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595360" y="1783080"/>
            <a:ext cx="182880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8595360" y="1920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59536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本月到期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3063240"/>
            <a:ext cx="36576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27" name="Image 0" descr="/workspace/assets/charts/s3/contract_status_pie_600x5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3154680"/>
            <a:ext cx="2688336" cy="22402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640080" y="54406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合同状态分布 - 执行中/待审批/已到期/已终止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480560" y="3063240"/>
            <a:ext cx="41148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30" name="Image 1" descr="/workspace/assets/charts/s3/approval_efficiency_800x50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3154680"/>
            <a:ext cx="3584448" cy="22402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572000" y="54406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审批效率分析 - 各环节平均耗时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8869680" y="3063240"/>
            <a:ext cx="32918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33" name="Image 2" descr="/workspace/assets/ui/s3/ui_contract_detail_1200x7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3303270"/>
            <a:ext cx="3108960" cy="19431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961120" y="544068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合同详情界面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34/46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合同UI总览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工作台 · 看板 · 详情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37490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7" name="Image 0" descr="/workspace/assets/ui/s3/ui_contract_workbench_1200x7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71675"/>
            <a:ext cx="3566160" cy="2228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合同工作台 - 待办/统计/快捷操作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480560" y="1783080"/>
            <a:ext cx="37490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0" name="Image 1" descr="/workspace/assets/ui/s3/ui_contract_kanban_1200x75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971675"/>
            <a:ext cx="3566160" cy="22288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合同看板 - 状态流转可视化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412480" y="1783080"/>
            <a:ext cx="374904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pic>
        <p:nvPicPr>
          <p:cNvPr id="13" name="Image 2" descr="/workspace/assets/ui/s3/ui_contract_detail_1200x75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971675"/>
            <a:ext cx="3566160" cy="22288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0" y="4343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合同详情 - 全信息展示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548640" y="498348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F8F9FA"/>
          </a:solidFill>
          <a:ln/>
        </p:spPr>
      </p:sp>
      <p:sp>
        <p:nvSpPr>
          <p:cNvPr id="16" name="Text 11"/>
          <p:cNvSpPr/>
          <p:nvPr/>
        </p:nvSpPr>
        <p:spPr>
          <a:xfrm>
            <a:off x="82296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合同模块UI特点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2960" y="5532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看板式管理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22960" y="5897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合同状态看板视图，拖拽式状态变更，直观高效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72000" y="5532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全屏编辑器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0" y="5897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合同起草全屏编辑模式，支持富文本、表格、图片混排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8321040" y="5532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流程可视化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321040" y="589788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审批流程节点可视化展示，实时跟踪审批进度与意见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35/46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4722876" y="3410712"/>
            <a:ext cx="2743200" cy="36576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7033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UI/UX设计规范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UI/UX DESIGN STANDARDS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36/46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设计理念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以用户为中心，提升管理效率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4864" cy="210312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1965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简洁高效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5146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界面简洁直观，减少不必要的视觉干扰。核心操作路径最短化，让用户快速完成任务。信息层级清晰，重要数据突出展示。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783080"/>
            <a:ext cx="54864" cy="21031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9659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315200" y="196596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专业规范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遵循企业级应用设计规范，参考行业最佳实践。财务模块采用专业财务软件布局，合同模块参考法务系统交互模式。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160520"/>
            <a:ext cx="54864" cy="210312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43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54480" y="4343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数据驱动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以数据可视化为核心，图表与表格结合。关键指标仪表盘化，支持钻取分析。数据实时更新，辅助管理决策。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309360" y="41605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309360" y="4160520"/>
            <a:ext cx="54864" cy="2103120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434340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15200" y="43434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一致体验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48920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统一的设计语言和交互规范。色彩、字体、间距、组件保持一致性。操作习惯跨模块通用，降低学习成本。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37/46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色彩体系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主色调 + 辅助色 + 语义色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主色调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0A3D6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深蓝  #0A3D62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FE6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主色/标题/导航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FE6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品牌色、页面标题、导航栏、重要按钮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297680" y="21488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金色  #F6B93B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8056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DFE6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强调/点缀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FE6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重点标注、图标、分隔线、CTA按钮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046720" y="2148840"/>
            <a:ext cx="34747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白色  #FFFFFF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背景/正文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0" y="30175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页面背景、卡片底色、正文文字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辅助色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82CCDD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4160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浅蓝  #82CCDD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8580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信息/辅助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40690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DFE6E9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4160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浅灰  #DFE6E9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背景/边框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40690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00B894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4160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成功绿  #00B894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成功/完成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15400" y="406908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6B35"/>
          </a:solidFill>
          <a:ln/>
        </p:spPr>
      </p:sp>
      <p:sp>
        <p:nvSpPr>
          <p:cNvPr id="30" name="Text 28"/>
          <p:cNvSpPr/>
          <p:nvPr/>
        </p:nvSpPr>
        <p:spPr>
          <a:xfrm>
            <a:off x="9052560" y="41605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警告橙  #FF6B35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52560" y="457200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FE6E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警告/逾期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" y="5440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文字色阶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48640" y="5806440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2C3E50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" y="5806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标题文字 #2C3E50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97680" y="5806440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34495E"/>
          </a:solidFill>
          <a:ln/>
        </p:spPr>
      </p:sp>
      <p:sp>
        <p:nvSpPr>
          <p:cNvPr id="36" name="Text 34"/>
          <p:cNvSpPr/>
          <p:nvPr/>
        </p:nvSpPr>
        <p:spPr>
          <a:xfrm>
            <a:off x="4434840" y="5806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正文文字 #34495E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46720" y="5806440"/>
            <a:ext cx="3474720" cy="640080"/>
          </a:xfrm>
          <a:prstGeom prst="roundRect">
            <a:avLst>
              <a:gd name="adj" fmla="val 8571"/>
            </a:avLst>
          </a:prstGeom>
          <a:solidFill>
            <a:srgbClr val="7F8C8D"/>
          </a:solidFill>
          <a:ln/>
        </p:spPr>
      </p:sp>
      <p:sp>
        <p:nvSpPr>
          <p:cNvPr id="38" name="Text 36"/>
          <p:cNvSpPr/>
          <p:nvPr/>
        </p:nvSpPr>
        <p:spPr>
          <a:xfrm>
            <a:off x="8183880" y="58064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辅助文字 #7F8C8D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38/46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字体与组件规范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字体层级 · 组件库 · 交互规范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字体层级规范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主字体：Noto Sans CJK SC（全局统一）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页面标题：26px / Bold / 深蓝#0A3D62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模块标题：18px / Bold / 深蓝#0A3D62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卡片标题：14px / Bold / 深蓝#0A3D62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正文内容：12px / Regular / 正文色#34495E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辅助文字：10px / Regular / 辅助色#7F8C8D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数据标签：9px / Regular / 辅助色#7F8C8D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组件规范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按钮：圆角4px，主按钮深蓝/次按钮白色边框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输入框：高度36px，圆角4px，浅灰边框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卡片：圆角8px，白色背景，轻微阴影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表格：斑马纹，悬浮高亮，固定表头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标签：圆角12px，语义色背景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弹窗：居中弹出，遮罩层，圆角8px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通知：右上角弹出，自动消失，支持操作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8006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80060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937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交互规范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53035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页面切换：平滑过渡动画，时长200ms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列表操作：悬浮显示操作按钮，点击确认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表单提交：实时校验，错误字段高亮提示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数据加载：骨架屏占位，加载动画反馈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操作反馈：成功/失败Toast提示，2秒自动消失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480060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80060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9377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Element Plus定制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530352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基于Element Plus组件库深度定制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统一主题色覆盖（深蓝+金色）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自定义组件封装（业务组件库）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响应式断点适配（1280/1440/1920）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暗色模式预留接口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39/46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全局导航与布局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导航结构 · 页面布局 · 信息架构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全局导航结构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顶部导航栏：系统Logo + 全局搜索 + 消息通知 + 用户信息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左侧菜单栏：可折叠，支持多级菜单，图标+文字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一级菜单：首页概览 / 收租管理 / 财务报表 / 合同管理 / 系统设置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二级菜单：各模块子功能入口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面包屑导航：页面层级路径展示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页面布局规范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标准布局：顶部导航(56px) + 左侧菜单(220px) + 内容区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内容区：标题栏 + 操作栏 + 数据区，间距16px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卡片布局：网格排列，间距16px，自适应列数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表格页：搜索栏 + 表格工具栏 + 数据表格 + 分页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详情页：基础信息 + Tab切换 + 关联数据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布局示意图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617720"/>
            <a:ext cx="5303520" cy="365760"/>
          </a:xfrm>
          <a:prstGeom prst="rect">
            <a:avLst>
              <a:gd name="adj" fmla="val 10000"/>
            </a:avLst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6177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顶部导航栏 (Logo | 搜索 | 通知 | 用户)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1520" y="5074920"/>
            <a:ext cx="1097280" cy="1645920"/>
          </a:xfrm>
          <a:prstGeom prst="rect">
            <a:avLst>
              <a:gd name="adj" fmla="val 3333"/>
            </a:avLst>
          </a:prstGeom>
          <a:solidFill>
            <a:srgbClr val="DFE6E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074920"/>
            <a:ext cx="109728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左侧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菜单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20240" y="5074920"/>
            <a:ext cx="4114800" cy="1645920"/>
          </a:xfrm>
          <a:prstGeom prst="rect">
            <a:avLst>
              <a:gd name="adj" fmla="val 2222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1920240" y="507492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内容区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(标题栏 + 操作栏 + 数据区)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92240" y="416052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F8F9FA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4251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信息架构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4617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L1 - 首页概览：全局KPI、待办事项、快捷入口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675120" y="500176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L2 - 收租管理：房源→租客→收租→催缴→报表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538581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L3 - 财务报表：凭证→核算→税务→预算→报表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675120" y="576986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L4 - 合同管理：起草→审批→履行→续约→归档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675120" y="61539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L5 - 系统设置：用户→权限→字典→日志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40/46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3D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88952" cy="2286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>
                    <a:alpha val="2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4722876" y="3410712"/>
            <a:ext cx="2743200" cy="36576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7033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技术架构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0" y="44348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TECHNICAL ARCHITECTURE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41/46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技术架构总览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Electron + Vue3 + Node.js + MySQL + Redis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4864" cy="100584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828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表现层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194560" y="18288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Electron + Vue3 + Element Plus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桌面端应用 | 响应式UI | 组件化开发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57316" y="27432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54864" cy="100584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194560" y="3017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Node.js + Express + RESTful API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API网关 | 身份认证 | 参数校验 | 日志记录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57316" y="39319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16052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160520"/>
            <a:ext cx="54864" cy="100584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2062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9456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Sequelize ORM + Service Module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61772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收租服务 | 财务服务 | 合同服务 | 通知服务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57316" y="51206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5349240"/>
            <a:ext cx="54864" cy="1005840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5394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数据层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194560" y="5394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MySQL + Redis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5806440"/>
            <a:ext cx="10725912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关系存储 | 缓存加速 | 会话管理 | 消息队列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662940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0A3D62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6629400"/>
            <a:ext cx="10543032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技术栈：Electron 28+ | Vue 3.4+ | Element Plus 2.5+ | Node.js 20 LTS | Express 4.x | Sequelize 6.x | MySQL 8.0 | Redis 7.x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42/46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Electron + Vue3 + Element Plus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Electron桌面端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主进程：窗口管理、系统托盘、自动更新、IPC通信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渲染进程：Vue3 SPA应用，独立渲染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预加载脚本：安全桥接，Node.js API受限暴露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本地文件系统：支持本地数据导出/导入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离线支持：核心功能离线可用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Vue3技术栈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Composition API：逻辑复用与代码组织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Pinia状态管理：全局状态统一管理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Vue Router：前端路由与权限控制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TypeScript：类型安全，开发效率提升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Vite构建工具：快速热更新与构建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16052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97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Element Plus定制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主题定制：基于SCSS变量覆盖默认主题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业务组件：封装收租/财务/合同专用组件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图表组件：ECharts封装，统一图表风格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表格组件：增强表格（虚拟滚动/树形/可编辑）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表单组件：动态表单生成器，规则引擎驱动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416052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16052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297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前端工程化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466344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ESLint + Prettier：代码规范统一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Husky + lint-staged：Git提交规范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单元测试：Vitest组件测试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E2E测试：Playwright端到端测试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CI/CD：自动化构建与发布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43/46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Node.js + Express + Sequelize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Express服务架构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MVC分层：Controller → Service → Model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中间件栈：日志/认证/限流/错误处理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RESTful API设计：统一接口规范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WebSocket：实时消息推送（通知/催缴）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定时任务：自动账单/到期提醒/数据备份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Sequelize ORM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模型定义：租客/房源/合同/账单/凭证等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关联关系：一对多/多对多/belongsTo等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事务管理：关键业务操作事务保障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数据迁移：版本化数据库变更管理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查询优化：索引优化/分页查询/懒加载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416052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97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核心服务模块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66344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收租服务：账单生成/收款核销/催缴调度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财务服务：凭证生成/科目汇总/报表计算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合同服务：模板管理/审批引擎/到期监控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通知服务：多通道消息推送/模板管理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文件服务：附件上传/合同文档/报表导出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416052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16052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42976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安全与性能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466344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JWT认证：用户登录/Token刷新/权限校验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RBAC权限：角色/菜单/数据级权限控制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数据加密：敏感字段AES加密存储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API限流：防刷/防DDoS攻击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日志审计：操作日志/登录日志/异常日志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44/46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数据库设计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MySQL关系模型 + Redis缓存策略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45720" cy="109728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房源表 (properties)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id, name, type(住房/厂房/商铺), area, address, status, owner_id, created_at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783080"/>
            <a:ext cx="45720" cy="109728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8288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6B93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租客表 (tenants)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46520" y="21488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id, name, id_type, id_number, phone, email, credit_score, status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063240"/>
            <a:ext cx="45720" cy="1097280"/>
          </a:xfrm>
          <a:prstGeom prst="rect">
            <a:avLst/>
          </a:prstGeom>
          <a:solidFill>
            <a:srgbClr val="00B894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08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0B89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合同表 (contracts)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34290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id, property_id, tenant_id, start_date, end_date, rent_amount, status, template_id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9360" y="306324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3063240"/>
            <a:ext cx="45720" cy="1097280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31089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82CCD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账单表 (bills)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46520" y="342900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id, contract_id, amount, due_date, paid_date, status, payment_channel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343400"/>
            <a:ext cx="45720" cy="10972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389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凭证表 (vouchers)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7091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id, voucher_no, date, debit_account, credit_account, amount, status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434340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4343400"/>
            <a:ext cx="45720" cy="1097280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28" name="Text 26"/>
          <p:cNvSpPr/>
          <p:nvPr/>
        </p:nvSpPr>
        <p:spPr>
          <a:xfrm>
            <a:off x="6446520" y="43891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审批表 (approvals)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470916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id, contract_id, applicant_id, approver_id, status, opinion, created_at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571500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F8F9FA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Redis缓存策略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2960" y="6217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会话缓存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6537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用户Session/Token存储，30分钟过期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0" y="6217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数据缓存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657600" y="6537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热点数据缓存（字典/配置/统计），5分钟刷新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92240" y="6217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消息队列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92240" y="6537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通知消息队列，异步处理提升响应速度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326880" y="6217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分布式锁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326880" y="6537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关键操作并发控制（账单生成/审批提交）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45/46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3D6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48640"/>
            <a:ext cx="11091672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系统集成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模块集成 · 外部对接 · 数据流转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91672" cy="18288"/>
          </a:xfrm>
          <a:prstGeom prst="rect">
            <a:avLst/>
          </a:prstGeom>
          <a:solidFill>
            <a:srgbClr val="82CCDD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内部模块集成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收租→财务：收租数据自动生成财务凭证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合同→收租：合同签订自动创建收租计划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合同→财务：合同变更自动调整财务预算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催缴→通知：催缴任务触发多通道消息推送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审批→合同：审批通过自动归档合同文档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1783080"/>
            <a:ext cx="56692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783080"/>
            <a:ext cx="5669280" cy="45720"/>
          </a:xfrm>
          <a:prstGeom prst="rect">
            <a:avLst/>
          </a:prstGeom>
          <a:solidFill>
            <a:srgbClr val="F6B93B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20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外部系统对接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228600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银行系统：银企直连，收款自动对账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支付平台：微信/支付宝收款回调对接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短信平台：短信网关API对接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电子签章：第三方CA机构对接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税务系统：纳税申报数据导出对接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11091672" cy="2743200"/>
          </a:xfrm>
          <a:prstGeom prst="roundRect">
            <a:avLst>
              <a:gd name="adj" fmla="val 2667"/>
            </a:avLst>
          </a:prstGeom>
          <a:solidFill>
            <a:srgbClr val="F8F9FA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297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A3D6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数据流转架构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0A3D62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09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收租管理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470916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00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3108960" y="4709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合同管理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94960" y="470916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6B93B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4709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财务报表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470916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7680960" y="4709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通知中心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66960" y="470916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82CCDD"/>
          </a:solidFill>
          <a:ln/>
        </p:spPr>
      </p:sp>
      <p:sp>
        <p:nvSpPr>
          <p:cNvPr id="25" name="Text 23"/>
          <p:cNvSpPr/>
          <p:nvPr/>
        </p:nvSpPr>
        <p:spPr>
          <a:xfrm>
            <a:off x="9966960" y="47091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文件服务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532120"/>
            <a:ext cx="1054303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34495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模块间通过RESTful API + 事件总线实现松耦合集成，数据变更通过事件机制实时同步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22960" y="59893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82CC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6007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银行系统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银企直连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08960" y="59893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82CC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6007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支付平台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108960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微信/支付宝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4960" y="59893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82CC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94960" y="6007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短信网关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消息推送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680960" y="59893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82CC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80960" y="6007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电子签章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80960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CA认证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9966960" y="598932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82CC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66960" y="60076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3E50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税务系统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9966960" y="63093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申报对接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46/46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物业租赁综合管理系统 — 产品方案</dc:title>
  <dc:subject>PptxGenJS Presentation</dc:subject>
  <dc:creator>物业租赁综合管理系统</dc:creator>
  <cp:lastModifiedBy>物业租赁综合管理系统</cp:lastModifiedBy>
  <cp:revision>1</cp:revision>
  <dcterms:created xsi:type="dcterms:W3CDTF">2026-04-12T13:41:39Z</dcterms:created>
  <dcterms:modified xsi:type="dcterms:W3CDTF">2026-04-12T13:41:39Z</dcterms:modified>
</cp:coreProperties>
</file>